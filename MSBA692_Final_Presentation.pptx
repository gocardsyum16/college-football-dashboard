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 &amp; Big Ten College Football Analytics Dashboard</a:t>
            </a:r>
          </a:p>
        </p:txBody>
      </p:sp>
      <p:sp>
        <p:nvSpPr>
          <p:cNvPr id="173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6104">
              <a:defRPr sz="3905"/>
            </a:pPr>
            <a:r>
              <a:t>Matt Kurtz</a:t>
            </a:r>
          </a:p>
          <a:p>
            <a:pPr defTabSz="586104">
              <a:defRPr sz="3905"/>
            </a:pPr>
            <a:r>
              <a:t>MSBA-692 Data Engineering</a:t>
            </a:r>
          </a:p>
          <a:p>
            <a:pPr defTabSz="586104">
              <a:defRPr sz="3905"/>
            </a:pPr>
            <a:r>
              <a:t>Final Project 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Business Problem &amp; Data Source</a:t>
            </a:r>
          </a:p>
        </p:txBody>
      </p:sp>
      <p:sp>
        <p:nvSpPr>
          <p:cNvPr id="177" name="Content Placeholder 2"/>
          <p:cNvSpPr txBox="1"/>
          <p:nvPr>
            <p:ph type="subTitle" sz="half" idx="1"/>
          </p:nvPr>
        </p:nvSpPr>
        <p:spPr>
          <a:xfrm>
            <a:off x="1206500" y="7196865"/>
            <a:ext cx="22249205" cy="4344048"/>
          </a:xfrm>
          <a:prstGeom prst="rect">
            <a:avLst/>
          </a:prstGeom>
        </p:spPr>
        <p:txBody>
          <a:bodyPr/>
          <a:lstStyle/>
          <a:p>
            <a:pPr defTabSz="511809">
              <a:defRPr sz="3409"/>
            </a:pPr>
            <a:r>
              <a:t>Problem:</a:t>
            </a:r>
          </a:p>
          <a:p>
            <a:pPr defTabSz="511809">
              <a:defRPr sz="3409"/>
            </a:pPr>
            <a:r>
              <a:t>• College football data is fragmented across sources.</a:t>
            </a:r>
          </a:p>
          <a:p>
            <a:pPr defTabSz="511809">
              <a:defRPr sz="3409"/>
            </a:pPr>
            <a:r>
              <a:t>• Comparing SEC and Big Ten teams is time-consuming.</a:t>
            </a:r>
          </a:p>
          <a:p>
            <a:pPr defTabSz="511809">
              <a:defRPr sz="3409"/>
            </a:pPr>
          </a:p>
          <a:p>
            <a:pPr defTabSz="511809">
              <a:defRPr sz="3409"/>
            </a:pPr>
            <a:r>
              <a:t>Data Source:</a:t>
            </a:r>
          </a:p>
          <a:p>
            <a:pPr defTabSz="511809">
              <a:defRPr sz="3409"/>
            </a:pPr>
            <a:r>
              <a:t>• CollegeFootballData API</a:t>
            </a:r>
          </a:p>
          <a:p>
            <a:pPr defTabSz="511809">
              <a:defRPr sz="3409"/>
            </a:pPr>
            <a:r>
              <a:t>• 2024 Team Records Endpoint</a:t>
            </a:r>
          </a:p>
          <a:p>
            <a:pPr defTabSz="511809">
              <a:defRPr sz="3409"/>
            </a:pPr>
            <a:r>
              <a:t>• Team Name, Conference, Wins, Losses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Architecture Overview</a:t>
            </a:r>
          </a:p>
        </p:txBody>
      </p:sp>
      <p:sp>
        <p:nvSpPr>
          <p:cNvPr id="18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9110" y="2914009"/>
            <a:ext cx="14305780" cy="822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Title 1"/>
          <p:cNvSpPr txBox="1"/>
          <p:nvPr>
            <p:ph type="ctrTitle"/>
          </p:nvPr>
        </p:nvSpPr>
        <p:spPr>
          <a:xfrm>
            <a:off x="413240" y="-2046588"/>
            <a:ext cx="21971005" cy="4648201"/>
          </a:xfrm>
          <a:prstGeom prst="rect">
            <a:avLst/>
          </a:prstGeom>
        </p:spPr>
        <p:txBody>
          <a:bodyPr/>
          <a:lstStyle/>
          <a:p>
            <a:pPr/>
            <a:r>
              <a:t>ETL Pipeline &amp; Data Quality</a:t>
            </a:r>
          </a:p>
        </p:txBody>
      </p:sp>
      <p:sp>
        <p:nvSpPr>
          <p:cNvPr id="185" name="Content Placeholder 2"/>
          <p:cNvSpPr txBox="1"/>
          <p:nvPr>
            <p:ph type="subTitle" idx="1"/>
          </p:nvPr>
        </p:nvSpPr>
        <p:spPr>
          <a:xfrm>
            <a:off x="1201342" y="2625593"/>
            <a:ext cx="22125125" cy="8953905"/>
          </a:xfrm>
          <a:prstGeom prst="rect">
            <a:avLst/>
          </a:prstGeom>
        </p:spPr>
        <p:txBody>
          <a:bodyPr/>
          <a:lstStyle/>
          <a:p>
            <a:pPr defTabSz="652145">
              <a:defRPr sz="4345"/>
            </a:pPr>
            <a:r>
              <a:t>Extract</a:t>
            </a:r>
          </a:p>
          <a:p>
            <a:pPr defTabSz="652145">
              <a:defRPr sz="4345"/>
            </a:pPr>
            <a:r>
              <a:t>• API requests using Python Requests</a:t>
            </a:r>
          </a:p>
          <a:p>
            <a:pPr defTabSz="652145">
              <a:defRPr sz="4345"/>
            </a:pPr>
            <a:r>
              <a:t>Transform</a:t>
            </a:r>
          </a:p>
          <a:p>
            <a:pPr defTabSz="652145">
              <a:defRPr sz="4345"/>
            </a:pPr>
            <a:r>
              <a:t>• Pandas data cleaning</a:t>
            </a:r>
          </a:p>
          <a:p>
            <a:pPr defTabSz="652145">
              <a:defRPr sz="4345"/>
            </a:pPr>
            <a:r>
              <a:t>• Conference filtering</a:t>
            </a:r>
          </a:p>
          <a:p>
            <a:pPr defTabSz="652145">
              <a:defRPr sz="4345"/>
            </a:pPr>
            <a:r>
              <a:t>• Win percentage calculation</a:t>
            </a:r>
          </a:p>
          <a:p>
            <a:pPr defTabSz="652145">
              <a:defRPr sz="4345"/>
            </a:pPr>
            <a:r>
              <a:t>Load</a:t>
            </a:r>
          </a:p>
          <a:p>
            <a:pPr defTabSz="652145">
              <a:defRPr sz="4345"/>
            </a:pPr>
            <a:r>
              <a:t>• Supabase PostgreSQL</a:t>
            </a:r>
          </a:p>
          <a:p>
            <a:pPr defTabSz="652145">
              <a:defRPr sz="4345"/>
            </a:pPr>
            <a:r>
              <a:t>Validation</a:t>
            </a:r>
          </a:p>
          <a:p>
            <a:pPr defTabSz="652145">
              <a:defRPr sz="4345"/>
            </a:pPr>
            <a:r>
              <a:t>• Null checks</a:t>
            </a:r>
          </a:p>
          <a:p>
            <a:pPr defTabSz="652145">
              <a:defRPr sz="4345"/>
            </a:pPr>
            <a:r>
              <a:t>• Duplicate detection</a:t>
            </a:r>
          </a:p>
          <a:p>
            <a:pPr defTabSz="652145">
              <a:defRPr sz="4345"/>
            </a:pPr>
            <a:r>
              <a:t>• Range validation</a:t>
            </a:r>
          </a:p>
          <a:p>
            <a:pPr defTabSz="652145">
              <a:defRPr sz="4345"/>
            </a:pPr>
            <a:r>
              <a:t>• Logging &amp; error handling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Database Schema</a:t>
            </a:r>
          </a:p>
        </p:txBody>
      </p:sp>
      <p:sp>
        <p:nvSpPr>
          <p:cNvPr id="18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15769" y="2926079"/>
            <a:ext cx="11752462" cy="78638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Title 1"/>
          <p:cNvSpPr txBox="1"/>
          <p:nvPr>
            <p:ph type="ctrTitle"/>
          </p:nvPr>
        </p:nvSpPr>
        <p:spPr>
          <a:xfrm>
            <a:off x="447730" y="-2081077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Dashboard Features</a:t>
            </a:r>
          </a:p>
        </p:txBody>
      </p:sp>
      <p:sp>
        <p:nvSpPr>
          <p:cNvPr id="193" name="Content Placeholder 2"/>
          <p:cNvSpPr txBox="1"/>
          <p:nvPr>
            <p:ph type="subTitle" idx="1"/>
          </p:nvPr>
        </p:nvSpPr>
        <p:spPr>
          <a:xfrm>
            <a:off x="1201342" y="2819461"/>
            <a:ext cx="21971001" cy="6308730"/>
          </a:xfrm>
          <a:prstGeom prst="rect">
            <a:avLst/>
          </a:prstGeom>
        </p:spPr>
        <p:txBody>
          <a:bodyPr/>
          <a:lstStyle/>
          <a:p>
            <a:pPr/>
            <a:r>
              <a:t>Interactive Components:</a:t>
            </a:r>
          </a:p>
          <a:p>
            <a:pPr/>
            <a:r>
              <a:t>• Conference Filter (SEC / Big Ten / All)</a:t>
            </a:r>
          </a:p>
          <a:p>
            <a:pPr/>
            <a:r>
              <a:t>• Total Teams KPI</a:t>
            </a:r>
          </a:p>
          <a:p>
            <a:pPr/>
            <a:r>
              <a:t>• Average Win Percentage KPI</a:t>
            </a:r>
          </a:p>
          <a:p>
            <a:pPr/>
            <a:r>
              <a:t>• Wins by Team Bar Chart</a:t>
            </a:r>
          </a:p>
          <a:p>
            <a:pPr/>
            <a:r>
              <a:t>• Wins vs. Losses Scatter Plot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Screenshot 2026-06-07 at 3.54.44 PM.png" descr="Screenshot 2026-06-07 at 3.54.44 PM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9773" r="0" b="977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Screenshot 2026-06-07 at 3.54.51 PM.png" descr="Screenshot 2026-06-07 at 3.54.51 PM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9773" r="0" b="977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Screenshot 2026-06-07 at 3.55.09 PM.png" descr="Screenshot 2026-06-07 at 3.55.09 PM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9773" r="0" b="977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Title 1"/>
          <p:cNvSpPr txBox="1"/>
          <p:nvPr>
            <p:ph type="ctrTitle"/>
          </p:nvPr>
        </p:nvSpPr>
        <p:spPr>
          <a:xfrm>
            <a:off x="378751" y="-839459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Insights, Challenges &amp; Lessons Learned</a:t>
            </a:r>
          </a:p>
        </p:txBody>
      </p:sp>
      <p:sp>
        <p:nvSpPr>
          <p:cNvPr id="203" name="Content Placeholder 2"/>
          <p:cNvSpPr txBox="1"/>
          <p:nvPr>
            <p:ph type="subTitle" sz="half" idx="1"/>
          </p:nvPr>
        </p:nvSpPr>
        <p:spPr>
          <a:xfrm>
            <a:off x="1201342" y="3626055"/>
            <a:ext cx="21971001" cy="5502136"/>
          </a:xfrm>
          <a:prstGeom prst="rect">
            <a:avLst/>
          </a:prstGeom>
        </p:spPr>
        <p:txBody>
          <a:bodyPr/>
          <a:lstStyle/>
          <a:p>
            <a:pPr defTabSz="437514">
              <a:defRPr sz="2914"/>
            </a:pPr>
            <a:r>
              <a:t>Key Insights:</a:t>
            </a:r>
          </a:p>
          <a:p>
            <a:pPr defTabSz="437514">
              <a:defRPr sz="2914"/>
            </a:pPr>
            <a:r>
              <a:t>• Win percentage is a stronger comparison metric than wins alone.</a:t>
            </a:r>
          </a:p>
          <a:p>
            <a:pPr defTabSz="437514">
              <a:defRPr sz="2914"/>
            </a:pPr>
            <a:r>
              <a:t>• Interactive filtering improves conference-level analysis.</a:t>
            </a:r>
          </a:p>
          <a:p>
            <a:pPr defTabSz="437514">
              <a:defRPr sz="2914"/>
            </a:pPr>
          </a:p>
          <a:p>
            <a:pPr defTabSz="437514">
              <a:defRPr sz="2914"/>
            </a:pPr>
            <a:r>
              <a:t>Challenges:</a:t>
            </a:r>
          </a:p>
          <a:p>
            <a:pPr defTabSz="437514">
              <a:defRPr sz="2914"/>
            </a:pPr>
            <a:r>
              <a:t>• API transformation</a:t>
            </a:r>
          </a:p>
          <a:p>
            <a:pPr defTabSz="437514">
              <a:defRPr sz="2914"/>
            </a:pPr>
            <a:r>
              <a:t>• Database integration</a:t>
            </a:r>
          </a:p>
          <a:p>
            <a:pPr defTabSz="437514">
              <a:defRPr sz="2914"/>
            </a:pPr>
            <a:r>
              <a:t>• Incremental loading</a:t>
            </a:r>
          </a:p>
          <a:p>
            <a:pPr defTabSz="437514">
              <a:defRPr sz="2914"/>
            </a:pPr>
          </a:p>
          <a:p>
            <a:pPr defTabSz="437514">
              <a:defRPr sz="2914"/>
            </a:pPr>
            <a:r>
              <a:t>Lessons Learned:</a:t>
            </a:r>
          </a:p>
          <a:p>
            <a:pPr defTabSz="437514">
              <a:defRPr sz="2914"/>
            </a:pPr>
            <a:r>
              <a:t>• Data quality engineering is critical.</a:t>
            </a:r>
          </a:p>
          <a:p>
            <a:pPr defTabSz="437514">
              <a:defRPr sz="2914"/>
            </a:pPr>
            <a:r>
              <a:t>• End-to-end ETL enables reliable analytics.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